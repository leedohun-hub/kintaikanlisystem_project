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4" r:id="rId8"/>
    <p:sldId id="262" r:id="rId9"/>
    <p:sldId id="263" r:id="rId10"/>
  </p:sldIdLst>
  <p:sldSz cx="14630400" cy="8229600"/>
  <p:notesSz cx="8229600" cy="14630400"/>
  <p:embeddedFontLst>
    <p:embeddedFont>
      <p:font typeface="Source Sans 3" panose="020B0600070205080204" charset="0"/>
      <p:regular r:id="rId12"/>
    </p:embeddedFont>
    <p:embeddedFont>
      <p:font typeface="Source Serif 4 Semi Bold" panose="020B0600070205080204" charset="0"/>
      <p:regular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10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90933-F547-FF5C-AC9B-468C9358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9D41C6-FBED-2E6C-7B11-790DD3D6F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04848-A660-49BD-E8FD-2E3B9E4A2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E53C9-6BB0-A05E-36CE-EB3072F62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62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3200281"/>
            <a:ext cx="740914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勤怠管理Webシステム </a:t>
            </a:r>
            <a:r>
              <a:rPr lang="en-US" sz="44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kintai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26327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 + Spring Boot バックエンドと React フロントエンドで構成された社内勤怠管理システムです。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1027" y="713780"/>
            <a:ext cx="5544383" cy="69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なぜ作ったのですか？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311027" y="1754743"/>
            <a:ext cx="7494746" cy="1765697"/>
          </a:xfrm>
          <a:prstGeom prst="roundRect">
            <a:avLst>
              <a:gd name="adj" fmla="val 828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0547" y="1754743"/>
            <a:ext cx="121920" cy="1765697"/>
          </a:xfrm>
          <a:prstGeom prst="roundRect">
            <a:avLst>
              <a:gd name="adj" fmla="val 81176"/>
            </a:avLst>
          </a:prstGeom>
          <a:solidFill>
            <a:srgbClr val="BE49DF"/>
          </a:solidFill>
          <a:ln/>
        </p:spPr>
      </p:sp>
      <p:sp>
        <p:nvSpPr>
          <p:cNvPr id="6" name="Text 3"/>
          <p:cNvSpPr/>
          <p:nvPr/>
        </p:nvSpPr>
        <p:spPr>
          <a:xfrm>
            <a:off x="6668572" y="2020848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教育目的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668572" y="2506385"/>
            <a:ext cx="6871097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現実的なビジネス要件を通じて、実務開発の経験を積むための学習用プロジェクトです。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6311027" y="3752374"/>
            <a:ext cx="7494746" cy="1765697"/>
          </a:xfrm>
          <a:prstGeom prst="roundRect">
            <a:avLst>
              <a:gd name="adj" fmla="val 828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80547" y="3752374"/>
            <a:ext cx="121920" cy="1765697"/>
          </a:xfrm>
          <a:prstGeom prst="roundRect">
            <a:avLst>
              <a:gd name="adj" fmla="val 81176"/>
            </a:avLst>
          </a:prstGeom>
          <a:solidFill>
            <a:srgbClr val="BE49DF"/>
          </a:solidFill>
          <a:ln/>
        </p:spPr>
      </p:sp>
      <p:sp>
        <p:nvSpPr>
          <p:cNvPr id="10" name="Text 7"/>
          <p:cNvSpPr/>
          <p:nvPr/>
        </p:nvSpPr>
        <p:spPr>
          <a:xfrm>
            <a:off x="6668572" y="4018478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実務型プロトタイプ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6668572" y="4504015"/>
            <a:ext cx="6871097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実際の運用を見据えた設計で、機能の完成度とコード品質の両方を目指します。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6311027" y="5750004"/>
            <a:ext cx="7494746" cy="1765697"/>
          </a:xfrm>
          <a:prstGeom prst="roundRect">
            <a:avLst>
              <a:gd name="adj" fmla="val 828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80547" y="5750004"/>
            <a:ext cx="121920" cy="1765697"/>
          </a:xfrm>
          <a:prstGeom prst="roundRect">
            <a:avLst>
              <a:gd name="adj" fmla="val 81176"/>
            </a:avLst>
          </a:prstGeom>
          <a:solidFill>
            <a:srgbClr val="BE49DF"/>
          </a:solidFill>
          <a:ln/>
        </p:spPr>
      </p:sp>
      <p:sp>
        <p:nvSpPr>
          <p:cNvPr id="14" name="Text 11"/>
          <p:cNvSpPr/>
          <p:nvPr/>
        </p:nvSpPr>
        <p:spPr>
          <a:xfrm>
            <a:off x="6668572" y="6016109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技術検証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668572" y="6501646"/>
            <a:ext cx="6871097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現場で広く使われる技術スタックを直接適用しながら、アーキテクチャの経験を積みます。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455" y="706279"/>
            <a:ext cx="6847284" cy="65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技術スタックをひと目で見る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455" y="1787009"/>
            <a:ext cx="448747" cy="448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5455" y="2498646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Java 17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85455" y="2954893"/>
            <a:ext cx="6398300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バックエンドの中核言語。LTS版で安定的です。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6645" y="1787009"/>
            <a:ext cx="448747" cy="448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46645" y="2498646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Spring Boot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7446645" y="2954893"/>
            <a:ext cx="6398300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RESTful APIサーバー構築のためのフレームワーク。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5455" y="3723442"/>
            <a:ext cx="448747" cy="448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5455" y="4435078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React + Vite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785455" y="4891326"/>
            <a:ext cx="6398300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コンポーネントベースのSPAフロントエンド。Viteで高速ビルド。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6645" y="3723442"/>
            <a:ext cx="448747" cy="448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46645" y="4435078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MySQL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7446645" y="4891326"/>
            <a:ext cx="6398300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リレーショナルデータベース。勤怠・会員データを保存します。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455" y="6007656"/>
            <a:ext cx="448747" cy="448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85455" y="6719292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REST + JSON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785455" y="7175540"/>
            <a:ext cx="6398300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フロントエンドとバックエンド間のデータ通信規約。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6645" y="6007656"/>
            <a:ext cx="448747" cy="44874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46645" y="6719292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セッション認証</a:t>
            </a:r>
            <a:endParaRPr lang="en-US" sz="2050" dirty="0"/>
          </a:p>
        </p:txBody>
      </p:sp>
      <p:sp>
        <p:nvSpPr>
          <p:cNvPr id="20" name="Text 12"/>
          <p:cNvSpPr/>
          <p:nvPr/>
        </p:nvSpPr>
        <p:spPr>
          <a:xfrm>
            <a:off x="7446645" y="7175540"/>
            <a:ext cx="6398300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サーバー側でログイン状態を管理する方式です。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68" y="550545"/>
            <a:ext cx="7275195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システム構成：二重アーキテクチャ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68" y="1438632"/>
            <a:ext cx="12630864" cy="57804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1943" y="2334457"/>
            <a:ext cx="2629550" cy="32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フロントエンド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10251943" y="2762302"/>
            <a:ext cx="3079710" cy="253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SPA (Vite)でUIを提供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500228" y="4107734"/>
            <a:ext cx="2629551" cy="32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バックエンドAPI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298432" y="4535580"/>
            <a:ext cx="2831346" cy="506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 REST JSONを提供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51943" y="5215475"/>
            <a:ext cx="2629550" cy="32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データベース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251943" y="5643321"/>
            <a:ext cx="3079710" cy="253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MySQLで永続性を管理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99768" y="7396877"/>
            <a:ext cx="12630864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フロントエンドとバックエンドを物理的に分離することで、独立したデプロイと保守性を確保した構成です。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9938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50"/>
              </a:lnSpc>
            </a:pPr>
            <a:r>
              <a:rPr lang="ja-JP" alt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管理者ページ</a:t>
            </a:r>
            <a:r>
              <a:rPr lang="en-US" altLang="ko-KR" sz="4400" dirty="0" err="1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の概要</a:t>
            </a:r>
            <a:endParaRPr lang="en-US" altLang="ko-KR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497" y="2139017"/>
            <a:ext cx="358973" cy="358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5559" y="21315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マスターデータ管理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15559" y="2722840"/>
            <a:ext cx="439335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部署・役職・社員情報などの基本データを管理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。</a:t>
            </a:r>
            <a:r>
              <a:rPr lang="ja-JP" alt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（アカウント生成完了ー＞メールで案内</a:t>
            </a:r>
            <a:r>
              <a:rPr lang="en-US" altLang="ja-JP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URL</a:t>
            </a:r>
            <a:r>
              <a:rPr lang="ja-JP" alt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機能）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497" y="3975080"/>
            <a:ext cx="358973" cy="3589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15559" y="396763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統計 &amp; Excelレポート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615559" y="4558903"/>
            <a:ext cx="337685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勤怠集計ダッシュボードおよびExcelダウンロード。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497" y="5811143"/>
            <a:ext cx="358973" cy="3589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15559" y="580370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ja-JP" altLang="en-US" sz="2200" dirty="0">
                <a:solidFill>
                  <a:srgbClr val="272525"/>
                </a:solidFill>
                <a:latin typeface="Source Serif 4 Semi Bold" pitchFamily="34" charset="0"/>
              </a:rPr>
              <a:t>ログイン＆勤怠　履歴</a:t>
            </a:r>
            <a:endParaRPr lang="en-US" altLang="ja-JP" sz="2200" dirty="0">
              <a:solidFill>
                <a:srgbClr val="272525"/>
              </a:solidFill>
              <a:latin typeface="Source Serif 4 Semi Bold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615559" y="6394966"/>
            <a:ext cx="337685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ja-JP" altLang="en-US" b="1" dirty="0"/>
              <a:t>「ログイン後、本人の勤怠・勤務履歴を確認する。」</a:t>
            </a:r>
            <a:r>
              <a:rPr lang="en-US" altLang="ja-JP" b="1" dirty="0"/>
              <a:t>-&gt;</a:t>
            </a:r>
            <a:r>
              <a:rPr lang="ja-JP" altLang="en-US" b="1" dirty="0"/>
              <a:t>　手軽に</a:t>
            </a:r>
            <a:r>
              <a:rPr lang="en-US" altLang="ja-JP" b="1" dirty="0"/>
              <a:t>PDF</a:t>
            </a:r>
            <a:r>
              <a:rPr lang="ja-JP" altLang="en-US" b="1" dirty="0"/>
              <a:t>に出力</a:t>
            </a:r>
            <a:endParaRPr lang="ja-JP" altLang="en-US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3E2141B2-7B50-3E95-6E19-FE091E6E5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556" y="417028"/>
            <a:ext cx="3358204" cy="2062007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322E7EB2-4517-060A-24E3-3408B4A78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981" y="3374101"/>
            <a:ext cx="3358204" cy="1890969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A065EC65-DF58-C5C7-06CC-386CA01A48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0323" y="3374102"/>
            <a:ext cx="3376852" cy="1890969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ACF12CF7-F13B-1C7B-8989-48A03DFFC6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981" y="5811143"/>
            <a:ext cx="3358204" cy="1890969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D7144754-3694-D002-6220-CBEB778A63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0323" y="5811143"/>
            <a:ext cx="3376852" cy="18909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627" y="693063"/>
            <a:ext cx="5544383" cy="69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ja-JP" altLang="en-US" sz="43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管理者ページ</a:t>
            </a:r>
            <a:r>
              <a:rPr lang="en-US" sz="4350" dirty="0" err="1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の概要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2528" y="3994668"/>
            <a:ext cx="353378" cy="3533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419993" y="3987345"/>
            <a:ext cx="304907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勤怠入力および履歴確認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10419993" y="4565751"/>
            <a:ext cx="3403878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出退勤記録の入力と個人の勤怠履歴の確認。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2528" y="1848060"/>
            <a:ext cx="353378" cy="3533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419993" y="1840738"/>
            <a:ext cx="308919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掲示板 &amp; </a:t>
            </a:r>
            <a:r>
              <a:rPr lang="en-US" sz="2150" dirty="0" err="1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メッセンジャ</a:t>
            </a: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ー</a:t>
            </a:r>
            <a:r>
              <a:rPr lang="ja-JP" altLang="en-US" sz="20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（共通）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10419993" y="2419143"/>
            <a:ext cx="3403878" cy="1121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社内のお知らせ確認および同僚とのリアルタイムなコミュニケーション。</a:t>
            </a:r>
            <a:endParaRPr lang="en-US" sz="185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D62A7C02-40DC-C0AA-42DD-70F0FBD74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2528" y="5635290"/>
            <a:ext cx="358973" cy="358973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0D655DB8-221A-1376-E0F0-805E1D4C19FA}"/>
              </a:ext>
            </a:extLst>
          </p:cNvPr>
          <p:cNvSpPr/>
          <p:nvPr/>
        </p:nvSpPr>
        <p:spPr>
          <a:xfrm>
            <a:off x="10430590" y="562784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休暇承認</a:t>
            </a:r>
            <a:r>
              <a:rPr lang="ja-JP" alt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（共通）</a:t>
            </a:r>
            <a:endParaRPr lang="en-US" sz="22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887EA2AD-36D2-F1D1-8E04-FD5574736995}"/>
              </a:ext>
            </a:extLst>
          </p:cNvPr>
          <p:cNvSpPr/>
          <p:nvPr/>
        </p:nvSpPr>
        <p:spPr>
          <a:xfrm>
            <a:off x="10430590" y="6219113"/>
            <a:ext cx="337685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社員の休暇申請を確認し、承認・却下を処理。</a:t>
            </a:r>
            <a:endParaRPr lang="en-US" sz="1850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6A47AF34-6874-7FFC-5A04-3B90C62A3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163" y="1719465"/>
            <a:ext cx="3358204" cy="2062006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654A082C-A80E-68E1-CFEE-422EE91E7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06" y="4448131"/>
            <a:ext cx="3358204" cy="2062005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C9FEF7BE-51E2-2B01-D68A-230CB41300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163" y="4446254"/>
            <a:ext cx="3358204" cy="2063882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AA0B1FF4-44AB-3162-CC75-968BF63E08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306" y="1719464"/>
            <a:ext cx="3358204" cy="20620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631A-F9DE-5091-0AC8-0F6E6707D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F90FB4-938C-1F93-B289-3411C6FA6858}"/>
              </a:ext>
            </a:extLst>
          </p:cNvPr>
          <p:cNvSpPr/>
          <p:nvPr/>
        </p:nvSpPr>
        <p:spPr>
          <a:xfrm>
            <a:off x="824627" y="693063"/>
            <a:ext cx="5544383" cy="69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ja-JP" altLang="en-US" sz="43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社員ページ</a:t>
            </a:r>
            <a:r>
              <a:rPr lang="en-US" sz="4350" dirty="0" err="1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の概要</a:t>
            </a:r>
            <a:endParaRPr lang="en-US" sz="435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B055494F-E343-4F48-1F74-13A6538177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2528" y="3225133"/>
            <a:ext cx="353378" cy="35337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96419809-A000-6F42-E09F-A557486FE21C}"/>
              </a:ext>
            </a:extLst>
          </p:cNvPr>
          <p:cNvSpPr/>
          <p:nvPr/>
        </p:nvSpPr>
        <p:spPr>
          <a:xfrm>
            <a:off x="10419993" y="3217810"/>
            <a:ext cx="304907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勤怠入力および履歴確認</a:t>
            </a:r>
            <a:endParaRPr lang="en-US" sz="21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469B0EE-17FA-6BBE-C168-F8F85A23E56B}"/>
              </a:ext>
            </a:extLst>
          </p:cNvPr>
          <p:cNvSpPr/>
          <p:nvPr/>
        </p:nvSpPr>
        <p:spPr>
          <a:xfrm>
            <a:off x="10419993" y="3796216"/>
            <a:ext cx="3403878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出退勤記録の入力と個人の勤怠履歴の確認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。</a:t>
            </a:r>
            <a:r>
              <a:rPr lang="ja-JP" alt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（社員側では月次で入力可能、</a:t>
            </a:r>
            <a:r>
              <a:rPr lang="en-US" altLang="ja-JP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EXCEL</a:t>
            </a:r>
            <a:r>
              <a:rPr lang="ja-JP" alt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で管理者へメール送信機能）</a:t>
            </a:r>
            <a:endParaRPr lang="en-US" sz="185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0A5FE735-E3AA-FE3F-5CB2-446975F05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2528" y="1078525"/>
            <a:ext cx="353378" cy="35337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8FAE9B64-D7CC-DD91-795B-6ACE0293D500}"/>
              </a:ext>
            </a:extLst>
          </p:cNvPr>
          <p:cNvSpPr/>
          <p:nvPr/>
        </p:nvSpPr>
        <p:spPr>
          <a:xfrm>
            <a:off x="10419993" y="1071203"/>
            <a:ext cx="308919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掲示板 &amp; メッセンジャー</a:t>
            </a:r>
            <a:endParaRPr lang="en-US" sz="21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1F44EA2-3796-7C17-E9A5-40B697CC1EF5}"/>
              </a:ext>
            </a:extLst>
          </p:cNvPr>
          <p:cNvSpPr/>
          <p:nvPr/>
        </p:nvSpPr>
        <p:spPr>
          <a:xfrm>
            <a:off x="10419993" y="1649608"/>
            <a:ext cx="3403878" cy="1121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社内のお知らせ確認および同僚とのリアルタイムなコミュニケーション。</a:t>
            </a:r>
            <a:endParaRPr lang="en-US" sz="185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B51C85E-E11E-9251-B220-A04C81751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822" y="1630613"/>
            <a:ext cx="4964776" cy="257404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7A151EB-2F69-60F0-0CA4-5F4F709B4B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546" y="4851964"/>
            <a:ext cx="4309923" cy="257404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B98C579F-314F-346C-7B6C-2E18A3290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331" y="4851963"/>
            <a:ext cx="4458533" cy="257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77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640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CI・テスト自動化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038707"/>
            <a:ext cx="854164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GitHub Actionsで自動化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2629972"/>
            <a:ext cx="110997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コードをプッシュすると、テストが自動で実行されます。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837724" y="3665220"/>
            <a:ext cx="11099718" cy="1468160"/>
          </a:xfrm>
          <a:prstGeom prst="roundRect">
            <a:avLst>
              <a:gd name="adj" fmla="val 684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84660" y="3912156"/>
            <a:ext cx="752376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バックエンド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84660" y="4503420"/>
            <a:ext cx="978028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JUnitで単体・統合テストを実行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837724" y="5372695"/>
            <a:ext cx="11099718" cy="1851184"/>
          </a:xfrm>
          <a:prstGeom prst="roundRect">
            <a:avLst>
              <a:gd name="adj" fmla="val 543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84660" y="5619631"/>
            <a:ext cx="752376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フロントエンド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84660" y="6210895"/>
            <a:ext cx="978028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Vitestでコンポーネントテストを実行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97381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まとめと次のステップ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036802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974" y="2094786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2119074"/>
            <a:ext cx="2806779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完成した二層構造システム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2966561"/>
            <a:ext cx="280677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 API + React SPAで独立デプロイ可能なアーキテクチャを実現。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721543" y="2036802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1793" y="2094786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99378" y="2119074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役割別機能を完備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99378" y="2614613"/>
            <a:ext cx="280689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従業員の勤怠・休暇・コミュニケーションから、管理者の承認・統計・レポートまで提供。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4625459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7974" y="4683443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470773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品質管理パイプライン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5203269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 Actions + JUnit/Vitestで自動テストを維持。</a:t>
            </a:r>
            <a:endParaRPr lang="en-US" sz="1850" dirty="0"/>
          </a:p>
        </p:txBody>
      </p:sp>
      <p:sp>
        <p:nvSpPr>
          <p:cNvPr id="16" name="Shape 13"/>
          <p:cNvSpPr/>
          <p:nvPr/>
        </p:nvSpPr>
        <p:spPr>
          <a:xfrm>
            <a:off x="837724" y="5855494"/>
            <a:ext cx="7468553" cy="1400175"/>
          </a:xfrm>
          <a:prstGeom prst="roundRect">
            <a:avLst>
              <a:gd name="adj" fmla="val 7181"/>
            </a:avLst>
          </a:prstGeom>
          <a:solidFill>
            <a:srgbClr val="E8BEF4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39" y="6204228"/>
            <a:ext cx="299204" cy="23931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15559" y="6154579"/>
            <a:ext cx="645140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画面およびAPIレスポンスの文言は主に日本語で構成されています。ご不明な点はお気軽にご質問ください。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267</Words>
  <Application>Microsoft Office PowerPoint</Application>
  <PresentationFormat>ユーザー設定</PresentationFormat>
  <Paragraphs>76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Source Sans 3</vt:lpstr>
      <vt:lpstr>Source Serif 4 Semi Bold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jaehoon Park</cp:lastModifiedBy>
  <cp:revision>3</cp:revision>
  <dcterms:created xsi:type="dcterms:W3CDTF">2026-04-20T04:31:56Z</dcterms:created>
  <dcterms:modified xsi:type="dcterms:W3CDTF">2026-04-20T05:05:36Z</dcterms:modified>
</cp:coreProperties>
</file>